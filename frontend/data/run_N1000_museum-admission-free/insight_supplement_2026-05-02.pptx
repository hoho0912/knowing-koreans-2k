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457200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KNOWING KOREANS · 보충 인사이트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ple SD Gothic Neo"/>
                <a:ea typeface="Apple SD Gothic Neo"/>
              </a:rPr>
              <a:t>국립중앙박물관 입장료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CADCFC"/>
                </a:solidFill>
                <a:latin typeface="Apple SD Gothic Neo"/>
                <a:ea typeface="Apple SD Gothic Neo"/>
              </a:rPr>
              <a:t>N=1,000 페르소나 · Hermes 4 405B · 어제 보고서 + 보충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Apple SD Gothic Neo"/>
                <a:ea typeface="Apple SD Gothic Neo"/>
              </a:rPr>
              <a:t>어제 큐레이터 보고서가 놓친 신호 5개 + 모델 편향 정량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Apple SD Gothic Neo"/>
                <a:ea typeface="Apple SD Gothic Neo"/>
              </a:rPr>
              <a:t>2026-05-02 · 본 자료는 어제 report.pdf의 보충 supplement 입니다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어제 보고서의 큰 그림은 그대로 — 그 위에 정량 근거를 얹습니다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Apple SD Gothic Neo"/>
                <a:ea typeface="Apple SD Gothic Neo"/>
              </a:rPr>
              <a:t>어제 (2026-05-01 20:00)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ple SD Gothic Neo"/>
                <a:ea typeface="Apple SD Gothic Neo"/>
              </a:rPr>
              <a:t>• 1,000명 페르소나 × Hermes 4 405B 단일
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Apple SD Gothic Neo"/>
                <a:ea typeface="Apple SD Gothic Neo"/>
              </a:rPr>
              <a:t>• 5단계 자동 인사이트 (Grok 4.20 분석)
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Apple SD Gothic Neo"/>
                <a:ea typeface="Apple SD Gothic Neo"/>
              </a:rPr>
              <a:t>• 큐레이터용 한 묶음: report.md / report.pdf / 차트 5종
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Apple SD Gothic Neo"/>
                <a:ea typeface="Apple SD Gothic Neo"/>
              </a:rPr>
              <a:t>• 핵심 발견 6개, 큐레이터 가설 5개, 인용 3건
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Apple SD Gothic Neo"/>
                <a:ea typeface="Apple SD Gothic Neo"/>
              </a:rPr>
              <a:t>• 차원: 수도권 / 연령 / 학력 / 성별 / 혼인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Apple SD Gothic Neo"/>
                <a:ea typeface="Apple SD Gothic Neo"/>
              </a:rPr>
              <a:t>본 supplement (2026-05-02)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486400" cy="4114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Apple SD Gothic Neo"/>
                <a:ea typeface="Apple SD Gothic Neo"/>
              </a:rPr>
              <a:t>• ambivalence cross-tab N=936 전체 (어제 글로만)
</a:t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Apple SD Gothic Neo"/>
                <a:ea typeface="Apple SD Gothic Neo"/>
              </a:rPr>
              <a:t>• 어제가 빠뜨린 차원: 직업·전공·가족형태·주거형태
</a:t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Apple SD Gothic Neo"/>
                <a:ea typeface="Apple SD Gothic Neo"/>
              </a:rPr>
              <a:t>• 광역 17개 시도 미세 spread (어제 수도권만)
</a:t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Apple SD Gothic Neo"/>
                <a:ea typeface="Apple SD Gothic Neo"/>
              </a:rPr>
              <a:t>• Q5 1,000건 multi-label 토픽 10개 + Q1 평균
</a:t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Apple SD Gothic Neo"/>
                <a:ea typeface="Apple SD Gothic Neo"/>
              </a:rPr>
              <a:t>• 모델 편향 어휘 빈도 정량 확정
</a:t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Apple SD Gothic Neo"/>
                <a:ea typeface="Apple SD Gothic Neo"/>
              </a:rPr>
              <a:t>• 세그먼트별 대표 인용 풀 확장
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</a:rPr>
              <a:t>본 자료는 어제 report.md를 대체하지 않고 그 옆에 분석가 supplement로 첨부됩니다.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어제 보고서가 놓친 신호 5개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pple SD Gothic Neo"/>
                <a:ea typeface="Apple SD Gothic Neo"/>
              </a:rPr>
              <a:t>직업·전공 차원이 학력보다 선명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00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같은 4년제 대졸 안에서도 공학·제조·건설 Q1=2.75 vs 사회과학·언론 2.43, spread 0.32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4028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pple SD Gothic Neo"/>
                <a:ea typeface="Apple SD Gothic Neo"/>
              </a:rPr>
              <a:t>"반대 + 소액 수용"은 ambivalence가 아닌 단일 입장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반대 응답자 638명 중 무료를 고른 사람은 27명(4.2%). 96%가 "반대하지만 1~3천 원은 낸다"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918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pple SD Gothic Neo"/>
                <a:ea typeface="Apple SD Gothic Neo"/>
              </a:rPr>
              <a:t>수도권 60+ 반대율(76.1%) &gt; 지방 60+(72.2%)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703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어제 "지방 접근성 우려" 강조와 다른 결. 다만 평균 지불 의향은 수도권이 더 큼 (1,540 vs 1,374원)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34340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pple SD Gothic Neo"/>
                <a:ea typeface="Apple SD Gothic Neo"/>
              </a:rPr>
              <a:t>호남이 가장 강한 반대권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548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광역 17개 중 Q1 최저 3개가 전라남(2.13)·제주(2.11)·전북(2.14). 면제 단서 줘도 입장 잘 안 바뀜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39496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pple SD Gothic Neo"/>
                <a:ea typeface="Apple SD Gothic Neo"/>
              </a:rPr>
              <a:t>모델의 사회적 바람직성 편향 정량 확정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8064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Q5 1,000건 중 "루브르"·"대영"·"외국인"·"SNS" 각 0건. context의 찬성 어휘를 거의 사용 안 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"반대 + 소액 수용"은 단일 입장입니다 — Q1 × Q4 cross-tab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Apple SD Gothic Neo"/>
                <a:ea typeface="Apple SD Gothic Neo"/>
              </a:rPr>
              <a:t>반대(Q1=1~2) 응답자의 Q4 분포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Q4 응답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인원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비율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pple SD Gothic Neo"/>
                          <a:ea typeface="Apple SD Gothic Neo"/>
                        </a:rPr>
                        <a:t>1,000~3,000원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Apple SD Gothic Neo"/>
                          <a:ea typeface="Apple SD Gothic Neo"/>
                        </a:rPr>
                        <a:t>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Apple SD Gothic Neo"/>
                          <a:ea typeface="Apple SD Gothic Neo"/>
                        </a:rPr>
                        <a:t>78.2%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pple SD Gothic Neo"/>
                          <a:ea typeface="Apple SD Gothic Neo"/>
                        </a:rPr>
                        <a:t>1,000원 미만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Apple SD Gothic Neo"/>
                          <a:ea typeface="Apple SD Gothic Neo"/>
                        </a:rP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Apple SD Gothic Neo"/>
                          <a:ea typeface="Apple SD Gothic Neo"/>
                        </a:rPr>
                        <a:t>17.6%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Apple SD Gothic Neo"/>
                          <a:ea typeface="Apple SD Gothic Neo"/>
                        </a:rPr>
                        <a:t>무료여야 한다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Apple SD Gothic Neo"/>
                          <a:ea typeface="Apple SD Gothic Neo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Apple SD Gothic Neo"/>
                          <a:ea typeface="Apple SD Gothic Neo"/>
                        </a:rPr>
                        <a:t>4.2%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761"/>
                          </a:solidFill>
                          <a:latin typeface="Apple SD Gothic Neo"/>
                          <a:ea typeface="Apple SD Gothic Neo"/>
                        </a:rPr>
                        <a:t>합계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761"/>
                          </a:solidFill>
                          <a:latin typeface="Apple SD Gothic Neo"/>
                          <a:ea typeface="Apple SD Gothic Neo"/>
                        </a:rPr>
                        <a:t>638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761"/>
                          </a:solidFill>
                          <a:latin typeface="Apple SD Gothic Neo"/>
                          <a:ea typeface="Apple SD Gothic Neo"/>
                        </a:rPr>
                        <a:t>100%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5486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Apple SD Gothic Neo"/>
                <a:ea typeface="Apple SD Gothic Neo"/>
              </a:rPr>
              <a:t>해석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반대 응답자 638명 중 무료를 고른 사람은 27명(4.2%)뿐.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95.8%가 "받지 말아야 하지만 받는다면 얼마는 낸다"는 입장.</a:t>
            </a:r>
          </a:p>
          <a:p>
            <a:pPr algn="l"/>
            <a:r>
              <a:rPr sz="1200" b="1">
                <a:solidFill>
                  <a:srgbClr val="1E2761"/>
                </a:solidFill>
                <a:latin typeface="Apple SD Gothic Neo"/>
                <a:ea typeface="Apple SD Gothic Neo"/>
              </a:rPr>
              <a:t>이건 모순 ambivalence가 아니라 "기본 무료 + 특별전 유료 + 기부 우선" 합의 위에 깔린 단일 답형.</a:t>
            </a:r>
          </a:p>
          <a:p>
            <a:pPr algn="l"/>
            <a:r>
              <a:rPr sz="1200" b="0">
                <a:solidFill>
                  <a:srgbClr val="D62728"/>
                </a:solidFill>
                <a:latin typeface="Apple SD Gothic Neo"/>
                <a:ea typeface="Apple SD Gothic Neo"/>
              </a:rPr>
              <a:t>큐레이터 의사결정: 반대 표심을 "유료화 절대 불가"가 아닌 "기본 무료 라인 지키는 한 소액 참여 가능"으로 해석.</a:t>
            </a:r>
          </a:p>
        </p:txBody>
      </p:sp>
      <p:pic>
        <p:nvPicPr>
          <p:cNvPr id="7" name="Picture 6" descr="01_segment_amb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486400" cy="34742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어제가 빠뜨린 차원 — 직업·전공 spread</a:t>
            </a:r>
          </a:p>
        </p:txBody>
      </p:sp>
      <p:pic>
        <p:nvPicPr>
          <p:cNvPr id="4" name="Picture 3" descr="02_occupation_field_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772400" cy="3719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097280"/>
            <a:ext cx="3383280" cy="5029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Apple SD Gothic Neo"/>
                <a:ea typeface="Apple SD Gothic Neo"/>
              </a:rPr>
              <a:t>직업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단순노동(청소·경비) Q1=2.0~2.1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사무직(비서·상담) Q1=2.6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무직 Q1=2.21</a:t>
            </a:r>
          </a:p>
          <a:p>
            <a:pPr algn="l"/>
            <a:r>
              <a:rPr sz="1200" b="1">
                <a:solidFill>
                  <a:srgbClr val="D62728"/>
                </a:solidFill>
                <a:latin typeface="Apple SD Gothic Neo"/>
                <a:ea typeface="Apple SD Gothic Neo"/>
              </a:rPr>
              <a:t>spread 0.60</a:t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Apple SD Gothic Neo"/>
                <a:ea typeface="Apple SD Gothic Neo"/>
              </a:rPr>
              <a:t>
전공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공학·제조·건설 Q1=2.75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정보통신·서비스 Q1=2.69~2.74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사회과학·언론 Q1=2.43</a:t>
            </a:r>
          </a:p>
          <a:p>
            <a:pPr algn="l"/>
            <a:r>
              <a:rPr sz="1200" b="1">
                <a:solidFill>
                  <a:srgbClr val="D62728"/>
                </a:solidFill>
                <a:latin typeface="Apple SD Gothic Neo"/>
                <a:ea typeface="Apple SD Gothic Neo"/>
              </a:rPr>
              <a:t>spread 0.32</a:t>
            </a:r>
          </a:p>
          <a:p>
            <a:pPr algn="l"/>
            <a:r>
              <a:rPr sz="1200" b="1">
                <a:solidFill>
                  <a:srgbClr val="1E293B"/>
                </a:solidFill>
                <a:latin typeface="Apple SD Gothic Neo"/>
                <a:ea typeface="Apple SD Gothic Neo"/>
              </a:rPr>
              <a:t>
예술·인문 전공자(N=38)도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특별히 호의적이지 않음 (Q1=2.68)</a:t>
            </a:r>
          </a:p>
          <a:p>
            <a:pPr algn="l"/>
            <a:r>
              <a:rPr sz="1200" b="1">
                <a:solidFill>
                  <a:srgbClr val="1E2761"/>
                </a:solidFill>
                <a:latin typeface="Apple SD Gothic Neo"/>
                <a:ea typeface="Apple SD Gothic Neo"/>
              </a:rPr>
              <a:t>
→ 직업·전공 차원이 학력보다</a:t>
            </a:r>
          </a:p>
          <a:p>
            <a:pPr algn="l"/>
            <a:r>
              <a:rPr sz="1200" b="1">
                <a:solidFill>
                  <a:srgbClr val="1E2761"/>
                </a:solidFill>
                <a:latin typeface="Apple SD Gothic Neo"/>
                <a:ea typeface="Apple SD Gothic Neo"/>
              </a:rPr>
              <a:t>   더 선명한 신호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광역 17개 시도 미세 spread — 호남이 가장 강한 반대권</a:t>
            </a:r>
          </a:p>
        </p:txBody>
      </p:sp>
      <p:pic>
        <p:nvPicPr>
          <p:cNvPr id="4" name="Picture 3" descr="04_province_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49231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097280"/>
            <a:ext cx="3474720" cy="5029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ple SD Gothic Neo"/>
                <a:ea typeface="Apple SD Gothic Neo"/>
              </a:rPr>
              <a:t>어제 보고서: 수도권/비수도권만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</a:rPr>
              <a:t>평균 2.42 vs 2.29 (spread 0.13)</a:t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Apple SD Gothic Neo"/>
                <a:ea typeface="Apple SD Gothic Neo"/>
              </a:rPr>
              <a:t>
본 분석: 광역 17개 spread 0.35</a:t>
            </a:r>
          </a:p>
          <a:p>
            <a:pPr algn="l"/>
            <a:r>
              <a:rPr sz="1200" b="1">
                <a:solidFill>
                  <a:srgbClr val="2CA02C"/>
                </a:solidFill>
                <a:latin typeface="Apple SD Gothic Neo"/>
                <a:ea typeface="Apple SD Gothic Neo"/>
              </a:rPr>
              <a:t>
가장 우호 3개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경기 2.46 / 울산 2.44 / 대전 2.43</a:t>
            </a:r>
          </a:p>
          <a:p>
            <a:pPr algn="l"/>
            <a:r>
              <a:rPr sz="1200" b="1">
                <a:solidFill>
                  <a:srgbClr val="D62728"/>
                </a:solidFill>
                <a:latin typeface="Apple SD Gothic Neo"/>
                <a:ea typeface="Apple SD Gothic Neo"/>
              </a:rPr>
              <a:t>
가장 반대 3개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전라남 2.13 / 제주 2.11 / 전북 2.14</a:t>
            </a:r>
          </a:p>
          <a:p>
            <a:pPr algn="l"/>
            <a:r>
              <a:rPr sz="1200" b="1">
                <a:solidFill>
                  <a:srgbClr val="1E2761"/>
                </a:solidFill>
                <a:latin typeface="Apple SD Gothic Neo"/>
                <a:ea typeface="Apple SD Gothic Neo"/>
              </a:rPr>
              <a:t>
Q3 (면제 단서 시 입장 변화) 최저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전라남 2.43 / 광주 2.59 / 전북 2.60</a:t>
            </a:r>
          </a:p>
          <a:p>
            <a:pPr algn="l"/>
            <a:r>
              <a:rPr sz="1200" b="1">
                <a:solidFill>
                  <a:srgbClr val="1E293B"/>
                </a:solidFill>
                <a:latin typeface="Apple SD Gothic Neo"/>
                <a:ea typeface="Apple SD Gothic Neo"/>
              </a:rPr>
              <a:t>
→ 호남은 면제 단서를 줘도</a:t>
            </a:r>
          </a:p>
          <a:p>
            <a:pPr algn="l"/>
            <a:r>
              <a:rPr sz="1200" b="1">
                <a:solidFill>
                  <a:srgbClr val="1E293B"/>
                </a:solidFill>
                <a:latin typeface="Apple SD Gothic Neo"/>
                <a:ea typeface="Apple SD Gothic Neo"/>
              </a:rPr>
              <a:t>   입장이 잘 바뀌지 않는 그룹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Q5 자유서술 1,000건 토픽 분포 (multi-label)</a:t>
            </a:r>
          </a:p>
        </p:txBody>
      </p:sp>
      <p:pic>
        <p:nvPicPr>
          <p:cNvPr id="4" name="Picture 3" descr="03_q5_topic_fr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42169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097280"/>
            <a:ext cx="3474720" cy="5029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Apple SD Gothic Neo"/>
                <a:ea typeface="Apple SD Gothic Neo"/>
              </a:rPr>
              <a:t>합의 토픽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B. 대안 우선 (특별전·기부) 75%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C. 취약계층 보호 46%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F. 접근성 우려 47%</a:t>
            </a:r>
          </a:p>
          <a:p>
            <a:pPr algn="l"/>
            <a:r>
              <a:rPr sz="1200" b="1">
                <a:solidFill>
                  <a:srgbClr val="D62728"/>
                </a:solidFill>
                <a:latin typeface="Apple SD Gothic Neo"/>
                <a:ea typeface="Apple SD Gothic Neo"/>
              </a:rPr>
              <a:t>
반대 측 어휘는 강하게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A. 무료 원칙 24%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G. 국립기관 성격 33%</a:t>
            </a:r>
          </a:p>
          <a:p>
            <a:pPr algn="l"/>
            <a:r>
              <a:rPr sz="1200" b="1">
                <a:solidFill>
                  <a:srgbClr val="2CA02C"/>
                </a:solidFill>
                <a:latin typeface="Apple SD Gothic Neo"/>
                <a:ea typeface="Apple SD Gothic Neo"/>
              </a:rPr>
              <a:t>
우호 그룹 (Q1≥2.7)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E. 재정·품질 옹호 N=100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   → 본 시뮬에서 가장 우호적인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   100명 (Q1=2.98)</a:t>
            </a:r>
          </a:p>
          <a:p>
            <a:pPr algn="l"/>
            <a:r>
              <a:rPr sz="1200" b="1">
                <a:solidFill>
                  <a:srgbClr val="1E2761"/>
                </a:solidFill>
                <a:latin typeface="Apple SD Gothic Neo"/>
                <a:ea typeface="Apple SD Gothic Neo"/>
              </a:rPr>
              <a:t>
→ 박물관이 재정·품질·보존을</a:t>
            </a:r>
          </a:p>
          <a:p>
            <a:pPr algn="l"/>
            <a:r>
              <a:rPr sz="1200" b="1">
                <a:solidFill>
                  <a:srgbClr val="1E2761"/>
                </a:solidFill>
                <a:latin typeface="Apple SD Gothic Neo"/>
                <a:ea typeface="Apple SD Gothic Neo"/>
              </a:rPr>
              <a:t>   투명하게 메시지화하면</a:t>
            </a:r>
          </a:p>
          <a:p>
            <a:pPr algn="l"/>
            <a:r>
              <a:rPr sz="1200" b="1">
                <a:solidFill>
                  <a:srgbClr val="1E2761"/>
                </a:solidFill>
                <a:latin typeface="Apple SD Gothic Neo"/>
                <a:ea typeface="Apple SD Gothic Neo"/>
              </a:rPr>
              <a:t>   ~10% 우호 회전 가능 가설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모델 편향 정량 확정 — context의 찬성 어휘는 거의 부재</a:t>
            </a:r>
          </a:p>
        </p:txBody>
      </p:sp>
      <p:pic>
        <p:nvPicPr>
          <p:cNvPr id="4" name="Picture 3" descr="05_model_bias_vo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4532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097280"/>
            <a:ext cx="3474720" cy="5029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Apple SD Gothic Neo"/>
                <a:ea typeface="Apple SD Gothic Neo"/>
              </a:rPr>
              <a:t>context에 명시된 찬성 어휘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</a:rPr>
              <a:t>(루브르 22→32유로, 대영박물관 무료+기부, SNS 사진족)</a:t>
            </a:r>
          </a:p>
          <a:p>
            <a:pPr algn="l"/>
            <a:r>
              <a:rPr sz="1200" b="1">
                <a:solidFill>
                  <a:srgbClr val="1E293B"/>
                </a:solidFill>
                <a:latin typeface="Apple SD Gothic Neo"/>
                <a:ea typeface="Apple SD Gothic Neo"/>
              </a:rPr>
              <a:t>
Q5 1,000건 인용 결과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• 루브르 0건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• 대영 0건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• 외국인 0건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• SNS 0건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• 사진 3건 / 해외 7건</a:t>
            </a:r>
          </a:p>
          <a:p>
            <a:pPr algn="l"/>
            <a:r>
              <a:rPr sz="1200" b="1">
                <a:solidFill>
                  <a:srgbClr val="1E2761"/>
                </a:solidFill>
                <a:latin typeface="Apple SD Gothic Neo"/>
                <a:ea typeface="Apple SD Gothic Neo"/>
              </a:rPr>
              <a:t>
반대 측 어휘는 강력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• 특별전 66.5% / 무료 66%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Apple SD Gothic Neo"/>
                <a:ea typeface="Apple SD Gothic Neo"/>
              </a:rPr>
              <a:t>• 기부 38% / 국민 28%</a:t>
            </a:r>
          </a:p>
          <a:p>
            <a:pPr algn="l"/>
            <a:r>
              <a:rPr sz="1200" b="1">
                <a:solidFill>
                  <a:srgbClr val="1E2761"/>
                </a:solidFill>
                <a:latin typeface="Apple SD Gothic Neo"/>
                <a:ea typeface="Apple SD Gothic Neo"/>
              </a:rPr>
              <a:t>
→ Hermes 4 405B는 한국 통념</a:t>
            </a:r>
          </a:p>
          <a:p>
            <a:pPr algn="l"/>
            <a:r>
              <a:rPr sz="1200" b="1">
                <a:solidFill>
                  <a:srgbClr val="1E2761"/>
                </a:solidFill>
                <a:latin typeface="Apple SD Gothic Neo"/>
                <a:ea typeface="Apple SD Gothic Neo"/>
              </a:rPr>
              <a:t>   "공공성·취약계층" 프레임에</a:t>
            </a:r>
          </a:p>
          <a:p>
            <a:pPr algn="l"/>
            <a:r>
              <a:rPr sz="1200" b="1">
                <a:solidFill>
                  <a:srgbClr val="1E2761"/>
                </a:solidFill>
                <a:latin typeface="Apple SD Gothic Neo"/>
                <a:ea typeface="Apple SD Gothic Neo"/>
              </a:rPr>
              <a:t>   강하게 정렬 → 사회적 바람직성</a:t>
            </a:r>
          </a:p>
          <a:p>
            <a:pPr algn="l"/>
            <a:r>
              <a:rPr sz="1200" b="1">
                <a:solidFill>
                  <a:srgbClr val="1E2761"/>
                </a:solidFill>
                <a:latin typeface="Apple SD Gothic Neo"/>
                <a:ea typeface="Apple SD Gothic Neo"/>
              </a:rPr>
              <a:t>   편향 우려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Apple SD Gothic Neo"/>
                <a:ea typeface="Apple SD Gothic Neo"/>
              </a:rPr>
              <a:t>큐레이터의 의사결정에 직접 사용할 한 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1556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</a:rPr>
              <a:t>기본 입장료를 1,500원 이하로 잡으면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</a:rPr>
              <a:t>60+ 여성 그룹의 90% 이상이 수용권에 들어옵니다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Apple SD Gothic Neo"/>
                <a:ea typeface="Apple SD Gothic Neo"/>
              </a:rPr>
              <a:t>60+ 여성 평균 지불 의향 1,203원 / 단순노동 1,636원 / 무직 1,591원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ADCFC"/>
                </a:solidFill>
                <a:latin typeface="Apple SD Gothic Neo"/>
                <a:ea typeface="Apple SD Gothic Neo"/>
              </a:rPr>
              <a:t>본 분석이 제안하는 차기 라운드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115568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1. Q4 옵션 anchoring 검증 — 옵션 그리드를 5,000/10,000/20,000원 포함으로 다시 측정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2. 컨텍스트 grounding 강화 — "루브르 22→32유로" 같은 구체 구절을 prompt에 inline 인용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3. 모델 편향 분리 — Hermes 70B / Qwen3 Max / Claude Haiku 4.5 동시 측정 + 어휘 점유율 비교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4. 호남 vs 영남 vs 수도권 nuance — 광역 stratified sampling으로 광역 N≥50 보장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5. narrative 깊이 Stage 2 — 박물관 도메인 prefer 추가해 narrative-response 정합성 회복 검증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